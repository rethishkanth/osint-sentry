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EF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EEF6"/>
                </a:solidFill>
                <a:latin typeface="Arial"/>
              </a:rPr>
              <a:t>Python lines by app, excluding migrations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lines</c:v>
                </c:pt>
              </c:strCache>
            </c:strRef>
          </c:tx>
          <c:spPr>
            <a:solidFill>
              <a:srgbClr val="FCEE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8EEF6"/>
                    </a:solidFill>
                    <a:latin typeface="Courier New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content</c:v>
                </c:pt>
                <c:pt idx="1">
                  <c:v>credibility</c:v>
                </c:pt>
                <c:pt idx="2">
                  <c:v>core</c:v>
                </c:pt>
                <c:pt idx="3">
                  <c:v>social</c:v>
                </c:pt>
                <c:pt idx="4">
                  <c:v>backend</c:v>
                </c:pt>
                <c:pt idx="5">
                  <c:v>security</c:v>
                </c:pt>
                <c:pt idx="6">
                  <c:v>media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5656</c:v>
                </c:pt>
                <c:pt idx="1">
                  <c:v>2188</c:v>
                </c:pt>
                <c:pt idx="2">
                  <c:v>629</c:v>
                </c:pt>
                <c:pt idx="3">
                  <c:v>590</c:v>
                </c:pt>
                <c:pt idx="4">
                  <c:v>506</c:v>
                </c:pt>
                <c:pt idx="5">
                  <c:v>245</c:v>
                </c:pt>
                <c:pt idx="6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E8-4A12-A3F7-488F1E2AE7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EF6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600"/>
          <c:min val="0"/>
        </c:scaling>
        <c:delete val="0"/>
        <c:axPos val="b"/>
        <c:majorGridlines>
          <c:spPr>
            <a:ln w="12700" cap="flat">
              <a:solidFill>
                <a:srgbClr val="2C3A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3A1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0F16"/>
    </a:solidFill>
    <a:ln w="12700" cap="flat">
      <a:solidFill>
        <a:srgbClr val="0B0F1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24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OSINT-Sentry: a Django REST + React platform that rates who published a story, whether the site is safe to open, and whether anyone else reported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modules were planned. Modules 1 and 2 are built end to end and do real network work. Modules 3-5 have real models, tasks, endpoints and admin, with heuristic stand-ins where the plan calls for trained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stack, and the seam where real models plug in. SQLite and a kombu filesystem broker are the defaults so the whole project runs with no services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analyst console front page. Every module reports its own counts and the engine that produced them; the engine notice is on the first screen, not in a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reads real domain registration data over RDAP. The v1 heuristic had the age signal inverted: it measured how long our own database had known a source, so a 30-year-old newspaper added today was penalised as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second, separate rating: what the site actually serves. Deliberately not folded into the credibility score, because is this publisher reliable and is this site safe to open are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is the part that goes and gets things. Feed-first, gated on credibility before any request, and obeying robots.txt on every hop including redirect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corroboration rating: three weighted components, each returned as its own signed reason so the console shows a column that visibly adds up to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reasoning panel is the answer to give reasons for the rating. Beside it, the bug that made almost every article score exactly 3.1 - the arithmetic was never the problem, the search query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129 tests, none touching the network. Everything outbound sits behind content.http.request or a search backend, so the tests replace those and drive the whole pipeline on canned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02920" y="77724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2DE2E6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02920" y="7772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1252728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REPORT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11885" y="137160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-100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OSINT·SENTRY</a:t>
            </a:r>
            <a:endParaRPr lang="en-US" sz="58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468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who published a story, whether the site is safe to open,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whether anyone else reported the same thing.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Utkersh sharma/</a:t>
            </a:r>
            <a:r>
              <a:rPr lang="en-US" sz="1700" dirty="0" err="1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Rethish</a:t>
            </a:r>
            <a:r>
              <a:rPr lang="en-US" sz="17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kanth</a:t>
            </a:r>
            <a:r>
              <a:rPr lang="en-US" sz="17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/Anvi </a:t>
            </a:r>
            <a:r>
              <a:rPr lang="en-US" sz="1700" dirty="0" err="1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pharande</a:t>
            </a:r>
            <a:endParaRPr lang="en-US" sz="1700" dirty="0">
              <a:solidFill>
                <a:srgbClr val="E8EEF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02920" y="6080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 5.2 REST API  ·  Celery  ·  Vite + React analyst console  ·  129 tests, none touching the network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modules planned · two built end-to-end · all five modelled, migrated, routed and audited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3521354" cy="1691640"/>
          </a:xfrm>
          <a:prstGeom prst="roundRect">
            <a:avLst>
              <a:gd name="adj" fmla="val 216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" y="151790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15179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652674" y="151790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B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190195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engine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0664" y="2267712"/>
            <a:ext cx="30458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RDAP registration scoring plus a separate site-safety inspection, each rated out of 10.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35170" y="1298448"/>
            <a:ext cx="3521354" cy="1691640"/>
          </a:xfrm>
          <a:prstGeom prst="roundRect">
            <a:avLst>
              <a:gd name="adj" fmla="val 216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914" y="151790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914" y="15179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84925" y="151790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B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914" y="190195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analysis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914" y="2267712"/>
            <a:ext cx="30458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Feed-first fetcher, NER / topics / summary, and a corroboration rating out of 10.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67421" y="1298448"/>
            <a:ext cx="3521354" cy="1691640"/>
          </a:xfrm>
          <a:prstGeom prst="roundRect">
            <a:avLst>
              <a:gd name="adj" fmla="val 216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05165" y="151790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93A1B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05165" y="15179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317175" y="151790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405165" y="190195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graph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405165" y="2267712"/>
            <a:ext cx="30458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edges and posts behind a reciprocity + neighbourhood-overlap scorer.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3264408"/>
            <a:ext cx="3521354" cy="1691640"/>
          </a:xfrm>
          <a:prstGeom prst="roundRect">
            <a:avLst>
              <a:gd name="adj" fmla="val 216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" y="348386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93A1B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0664" y="34838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2652674" y="348386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40664" y="386791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forensics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40664" y="4233672"/>
            <a:ext cx="30458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MediaItem and TamperingResult with ELA / deepfake score placeholders.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335170" y="3264408"/>
            <a:ext cx="3521354" cy="1691640"/>
          </a:xfrm>
          <a:prstGeom prst="roundRect">
            <a:avLst>
              <a:gd name="adj" fmla="val 216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914" y="348386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914" y="34838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84925" y="348386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3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4572914" y="386791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and GIS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572914" y="4233672"/>
            <a:ext cx="30458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GeoEvent PointField and Report; comes online once GDAL / GEOS are installed.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167421" y="3264408"/>
            <a:ext cx="3521354" cy="1691640"/>
          </a:xfrm>
          <a:prstGeom prst="roundRect">
            <a:avLst>
              <a:gd name="adj" fmla="val 216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05165" y="348386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405165" y="34838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0317175" y="348386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B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405165" y="386791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405165" y="4233672"/>
            <a:ext cx="30458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write recorded — 507 events so far, actor and diff included.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2920" y="5230368"/>
            <a:ext cx="11185855" cy="1143000"/>
          </a:xfrm>
          <a:prstGeom prst="roundRect">
            <a:avLst>
              <a:gd name="adj" fmla="val 3200"/>
            </a:avLst>
          </a:prstGeom>
          <a:solidFill>
            <a:srgbClr val="161E2A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77240" y="5358384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calls for trained models — GBT, BERT, spaCy, RGCN. None exist here, and nothing pretends otherwise.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777240" y="5705856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an interface with a dependency-free heuristic behind it, and every row it writes carries its own model_version — heuristic-v2, corroboration-v2, safety-v1. Swapping in a real model is a settings change with no call site moved.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put together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Django project, nine apps, a React console — and no service dependencies out of the box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6720840" cy="640080"/>
          </a:xfrm>
          <a:prstGeom prst="roundRect">
            <a:avLst>
              <a:gd name="adj" fmla="val 5714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12984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console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670048" y="12984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047488" y="12984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React; JWT client with transparent refresh, one view per module.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029968"/>
            <a:ext cx="6720840" cy="640080"/>
          </a:xfrm>
          <a:prstGeom prst="roundRect">
            <a:avLst>
              <a:gd name="adj" fmla="val 5714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4088" y="20299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670048" y="202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 + */urls.py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047488" y="202996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DRF router, JWT auth, pagination, one shared exception shape.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761488"/>
            <a:ext cx="6720840" cy="640080"/>
          </a:xfrm>
          <a:prstGeom prst="roundRect">
            <a:avLst>
              <a:gd name="adj" fmla="val 5714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088" y="276148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apps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670048" y="2761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core, credibility, content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047488" y="276148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CredibilityScore, SiteInspection, ContentItem, Corroboration.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493008"/>
            <a:ext cx="6720840" cy="640080"/>
          </a:xfrm>
          <a:prstGeom prst="roundRect">
            <a:avLst>
              <a:gd name="adj" fmla="val 5714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4088" y="349300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2670048" y="34930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backend/celery.py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047488" y="349300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over a kombu filesystem broker — a real worker, no Redis needed.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4224528"/>
            <a:ext cx="6720840" cy="640080"/>
          </a:xfrm>
          <a:prstGeom prst="roundRect">
            <a:avLst>
              <a:gd name="adj" fmla="val 5714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088" y="42245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2670048" y="42245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db.sqlite3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047488" y="422452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by default; Postgres + PostGIS is a settings swap for Module 5.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4956048"/>
            <a:ext cx="6720840" cy="640080"/>
          </a:xfrm>
          <a:prstGeom prst="roundRect">
            <a:avLst>
              <a:gd name="adj" fmla="val 5714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04088" y="49560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2670048" y="4956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security/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047488" y="49560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AuditLogEntry on every model write — actor, action, target, diff.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298448"/>
          <a:ext cx="4187952" cy="2606040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Settings seam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 implementation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 wants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CREDIBILITY_SCORER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RDAP registration age, TLD, publisher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3A1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GBT + BERT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CONTENT_ANALYZER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proper-noun NER, term-frequency topics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3A1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spaCy, BERTopic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CONTENT_FETCHER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feed-first fetcher over urllib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3A1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Scrapy spiders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SOCIAL_GRAPH_SCORER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reciprocity + neighbourhood overlap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3A1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RGCN (PyG / DGL)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7498080" y="420624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switches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7498080" y="4535424"/>
            <a:ext cx="4187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NullFetcher, NullRegistryClient and NullSearch each report themselves unavailable rather than returning empty, so switching a backend off can never read as evidence of nothing being there.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498080" y="562356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commits · 19 models · 9 apps · 6 console views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console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JWT-authenticated, one view per module — live screenshot of the running app</a:t>
            </a:r>
            <a:endParaRPr lang="en-US" sz="1050" dirty="0"/>
          </a:p>
        </p:txBody>
      </p:sp>
      <p:pic>
        <p:nvPicPr>
          <p:cNvPr id="7" name="Image 0" descr="C:\Users\utker\AppData\Local\Temp\claude\C--Users-utker-Desktop-project\ec2dd1e8-3287-4514-a4e5-6a0b65a12347\scratchpad\shots\01-overview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85855" cy="5221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rating the publisher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RDAP registration data — the registries’ own JSON-over-HTTP successor to WHOIS. No API key.</a:t>
            </a:r>
            <a:endParaRPr lang="en-US" sz="1050" dirty="0"/>
          </a:p>
        </p:txBody>
      </p:sp>
      <p:pic>
        <p:nvPicPr>
          <p:cNvPr id="7" name="Image 0" descr="C:\Users\utker\AppData\Local\Temp\claude\C--Users-utker-Desktop-project\ec2dd1e8-3287-4514-a4e5-6a0b65a12347\scratchpad\shots\02-credibility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548640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2200" y="1298448"/>
            <a:ext cx="5513832" cy="1645920"/>
          </a:xfrm>
          <a:prstGeom prst="roundRect">
            <a:avLst>
              <a:gd name="adj" fmla="val 2222"/>
            </a:avLst>
          </a:prstGeom>
          <a:solidFill>
            <a:srgbClr val="161E2A"/>
          </a:solidFill>
          <a:ln w="12700">
            <a:solidFill>
              <a:srgbClr val="FF3D8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9944" y="1444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 it fixes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9944" y="1773936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computed “domain age” from Source.first_seen — how long this database had known the source. Any row that sat in the table drifted upward, and every real newspaper added today scored as brand new.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108960"/>
          <a:ext cx="5513832" cy="1591056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bbc.co.uk, added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3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−15  “new”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E3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+18  registered 1994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5 days ago,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our DB a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3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+15  “established”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E3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02920" y="5138928"/>
            <a:ext cx="2618156" cy="1207008"/>
          </a:xfrm>
          <a:prstGeom prst="roundRect">
            <a:avLst>
              <a:gd name="adj" fmla="val 3030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5248656"/>
            <a:ext cx="22523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earns nothing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687568"/>
            <a:ext cx="22523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free, automatic and universal — every phishing site has it. An observed plaintext URL still costs 10.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358820" y="5138928"/>
            <a:ext cx="2618156" cy="1207008"/>
          </a:xfrm>
          <a:prstGeom prst="roundRect">
            <a:avLst>
              <a:gd name="adj" fmla="val 3030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541700" y="5248656"/>
            <a:ext cx="22523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“Known to us” is never scored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3541700" y="5687568"/>
            <a:ext cx="22523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Rewarding it is circular. Kept at weight zero so the provenance hash still covers it.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214720" y="5138928"/>
            <a:ext cx="2618156" cy="1207008"/>
          </a:xfrm>
          <a:prstGeom prst="roundRect">
            <a:avLst>
              <a:gd name="adj" fmla="val 3030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397600" y="5248656"/>
            <a:ext cx="22523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cannot reach VERIFIED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397600" y="5687568"/>
            <a:ext cx="22523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at 82; the tier needs 85. No amount of clean WHOIS makes a publisher accurate.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70619" y="5138928"/>
            <a:ext cx="2618156" cy="1207008"/>
          </a:xfrm>
          <a:prstGeom prst="roundRect">
            <a:avLst>
              <a:gd name="adj" fmla="val 3030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253499" y="5248656"/>
            <a:ext cx="22523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lookup leaves age unknown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9253499" y="5687568"/>
            <a:ext cx="22523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“new” — an unreachable registry must not be able to condemn a domain.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· is the site itself safe?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apnews.com · 8.4/10 Mostly safe — every deduction shown and signed, above the assessment log</a:t>
            </a:r>
            <a:endParaRPr lang="en-US" sz="1050" dirty="0"/>
          </a:p>
        </p:txBody>
      </p:sp>
      <p:pic>
        <p:nvPicPr>
          <p:cNvPr id="7" name="Image 0" descr="C:\Users\utker\AppData\Local\Temp\claude\C--Users-utker-Desktop-project\ec2dd1e8-3287-4514-a4e5-6a0b65a12347\scratchpad\shots\06-safety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548640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2200" y="1298448"/>
            <a:ext cx="5513832" cy="841248"/>
          </a:xfrm>
          <a:prstGeom prst="roundRect">
            <a:avLst>
              <a:gd name="adj" fmla="val 4348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9944" y="1389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409944" y="166420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HTTPS, whether plain HTTP upgrades, and the certificate: issuer, protocol, days to expiry.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72200" y="2240280"/>
            <a:ext cx="5513832" cy="841248"/>
          </a:xfrm>
          <a:prstGeom prst="roundRect">
            <a:avLst>
              <a:gd name="adj" fmla="val 4348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9944" y="2331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declares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409944" y="26060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HSTS, CSP, X-Content-Type-Options, clickjacking and referrer policy. Absence is inattention, not attack.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3182112"/>
            <a:ext cx="5513832" cy="841248"/>
          </a:xfrm>
          <a:prstGeom prst="roundRect">
            <a:avLst>
              <a:gd name="adj" fmla="val 4348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9944" y="3273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Monetisation and surveillance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09944" y="35478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networks, pop-unders, trackers, session recorders, push nagware, crypto miners — matched against a readable list.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4123944"/>
            <a:ext cx="5513832" cy="841248"/>
          </a:xfrm>
          <a:prstGeom prst="roundRect">
            <a:avLst>
              <a:gd name="adj" fmla="val 4348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9944" y="4215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 and mixed content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9944" y="44897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Interstitials, autoplay, embedded frames, meta-refresh, third-party volume, insecure forms.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51755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password field posting over plaintext HTTP caps the rating at 3/10  —  </a:t>
            </a:r>
            <a:r>
              <a:rPr lang="en-US" sz="11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 tidy the rest of the site is. That is not a hygiene issue.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56327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cryptocurrency miner is the heaviest single finding (−4)  —  </a:t>
            </a:r>
            <a:r>
              <a:rPr lang="en-US" sz="11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are penalised lightly because advertising is normal publishing; a miner is not.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502920" y="60899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E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Unreachable is not unsafe  —  </a:t>
            </a:r>
            <a:r>
              <a:rPr lang="en-US" sz="11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 that will not answer gets no rating rather than a bad one.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reading the web without being a nuisance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Feed-first: one request per new article rather than a crawl — the publisher decides what is in scope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5669280" cy="1536192"/>
          </a:xfrm>
          <a:prstGeom prst="roundRect">
            <a:avLst>
              <a:gd name="adj" fmla="val 2381"/>
            </a:avLst>
          </a:prstGeom>
          <a:solidFill>
            <a:srgbClr val="161E2A"/>
          </a:solidFill>
          <a:ln w="12700">
            <a:solidFill>
              <a:srgbClr val="2DE2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" y="14081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checks run before any request goes out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2376" y="17373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credibility gate first — a source below the threshold is never contacted at all.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 on every hop, redirect targets included, which is why redirects are followed by hand rather than by urllib.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robots.txt response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Behaviour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2xx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parsed and obeyed, Crawl-delay included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4xx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file exists, so nothing is disallowed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3D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5xx, timeout, DNS failure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3D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disallow everything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02920" y="4663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could not ask permission” is not “permission granted” — and failing open there would crawl a site hardest exactly while it is struggling.</a:t>
            </a:r>
            <a:endParaRPr lang="en-US" sz="1100" dirty="0"/>
          </a:p>
        </p:txBody>
      </p:sp>
      <p:pic>
        <p:nvPicPr>
          <p:cNvPr id="12" name="Image 0" descr="C:\Users\utker\AppData\Local\Temp\claude\C--Users-utker-Desktop-project\ec2dd1e8-3287-4514-a4e5-6a0b65a12347\scratchpad\shots\07-content-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8448"/>
            <a:ext cx="5285232" cy="35204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00800" y="4901184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and NLP: strip the furniture, prefer the article body, read metadata from OpenGraph and JSON-LD. Entities, topics and a summary, stamped heuristic-v1.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5632704"/>
            <a:ext cx="3570122" cy="896112"/>
          </a:xfrm>
          <a:prstGeom prst="roundRect">
            <a:avLst>
              <a:gd name="adj" fmla="val 408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571500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SSRF refused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980176"/>
            <a:ext cx="3204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Hostnames resolving to private, loopback or link-local addresses are refused on every hop.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310786" y="5632704"/>
            <a:ext cx="3570122" cy="896112"/>
          </a:xfrm>
          <a:prstGeom prst="roundRect">
            <a:avLst>
              <a:gd name="adj" fmla="val 408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493666" y="571500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MB stream cap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493666" y="5980176"/>
            <a:ext cx="3204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stream, not the Content-Length a server claims, and with identity encoding — no compression bomb behind the cap.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118653" y="5632704"/>
            <a:ext cx="3570122" cy="896112"/>
          </a:xfrm>
          <a:prstGeom prst="roundRect">
            <a:avLst>
              <a:gd name="adj" fmla="val 4082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301533" y="5715000"/>
            <a:ext cx="3204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DOCTYPE in feeds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301533" y="5980176"/>
            <a:ext cx="3204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entity-expansion attack needs a DTD, so a feed carrying one is refused before the parser sees it.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· the 0–10 corroboration rating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measures corroboration, not truth — a widely repeated falsehood corroborates beautifully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8521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0F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it measures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published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1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source’s Module 1 credibility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else reported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CE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1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outlets carrying a matching story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its details 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E2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3A1B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article’s own figures, found in their text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1821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article states nothing checkable the third share passes to the second rather than being lost. A conflicting figure costs 1.5, capped at 3.0.</a:t>
            </a:r>
            <a:endParaRPr lang="en-US" sz="1050" dirty="0"/>
          </a:p>
        </p:txBody>
      </p:sp>
      <p:sp>
        <p:nvSpPr>
          <p:cNvPr id="2" name="Shape 5"/>
          <p:cNvSpPr/>
          <p:nvPr/>
        </p:nvSpPr>
        <p:spPr>
          <a:xfrm>
            <a:off x="502920" y="3703320"/>
            <a:ext cx="5852160" cy="1828800"/>
          </a:xfrm>
          <a:prstGeom prst="roundRect">
            <a:avLst>
              <a:gd name="adj" fmla="val 2000"/>
            </a:avLst>
          </a:prstGeom>
          <a:solidFill>
            <a:srgbClr val="161E2A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2376" y="3803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looks — four backends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22376" y="41148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already ingested, and live feeds of other tracked outlets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major newsrooms in reference_outlets.py — consulted whether or not anyone registered them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GDELT DOC 2.0 — free and key-less; the only channel that discovers arbitrary domains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5623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few candidates are then fetched in full — through the same robots-respecting fetcher — and matched on their actual text, not a nine-word headline.</a:t>
            </a:r>
            <a:endParaRPr lang="en-US" sz="1050" dirty="0"/>
          </a:p>
        </p:txBody>
      </p:sp>
      <p:pic>
        <p:nvPicPr>
          <p:cNvPr id="13" name="Image 0" descr="C:\Users\utker\AppData\Local\Temp\claude\C--Users-utker-Desktop-project\ec2dd1e8-3287-4514-a4e5-6a0b65a12347\scratchpad\shots\04-content-che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98448"/>
            <a:ext cx="5148072" cy="3429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37960" y="4864608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search is not a negative result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5093208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NOT CHECK is a real state — GDELT rate-limits hard, and a lookup that did not complete carries no rating.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5431536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Syndication is not corroboration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5660136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wire copy on ten sites is one source, not ten.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5998464"/>
            <a:ext cx="5148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is not guilt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6227064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“Details checked 0 / 1” means a figure was not found in the coverage read. Not a contradiction.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rating — and the bug behind every 3.1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indiatimes.com · RBI intervention story · 2.04 + 2.71 + 0.00 = 4.8 / 10</a:t>
            </a:r>
            <a:endParaRPr lang="en-US" sz="1050" dirty="0"/>
          </a:p>
        </p:txBody>
      </p:sp>
      <p:pic>
        <p:nvPicPr>
          <p:cNvPr id="7" name="Image 0" descr="C:\Users\utker\AppData\Local\Temp\claude\C--Users-utker-Desktop-project\ec2dd1e8-3287-4514-a4e5-6a0b65a12347\scratchpad\shots\05-content-w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6035040" cy="4023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541324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contributions in a fixed-width column that visibly sums to the rating, the keywords actually searched, a “Where we looked” line (345 candidates considered, 3 fetched in full), and “Gaps in this check” naming what the search could not reach.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766560" y="1298448"/>
            <a:ext cx="4919472" cy="914400"/>
          </a:xfrm>
          <a:prstGeom prst="roundRect">
            <a:avLst>
              <a:gd name="adj" fmla="val 4000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67728" y="137160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967728" y="1609344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after story came back 3.1/10 UNCORROBORATED — sources_checked 139, independent_sources 0. That is 0.45 × (68 ÷ 10): the publisher half alone, corroboration contributing exactly zero.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766560" y="2304288"/>
            <a:ext cx="4919472" cy="914400"/>
          </a:xfrm>
          <a:prstGeom prst="roundRect">
            <a:avLst>
              <a:gd name="adj" fmla="val 4000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67728" y="23774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967728" y="2615184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 were ranked by how often a proper noun appeared anywhere on the page — so navigation menus and sidebar promos outvoted the story.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766560" y="3310128"/>
            <a:ext cx="4919472" cy="914400"/>
          </a:xfrm>
          <a:prstGeom prst="roundRect">
            <a:avLst>
              <a:gd name="adj" fmla="val 4000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67728" y="33832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3621024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article headlined “RBI intervention, dollar flows push Indian rupee to two-month peak” was searched for as Indian, Budget, share, price.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766560" y="4315968"/>
            <a:ext cx="4919472" cy="914400"/>
          </a:xfrm>
          <a:prstGeom prst="roundRect">
            <a:avLst>
              <a:gd name="adj" fmla="val 4000"/>
            </a:avLst>
          </a:prstGeom>
          <a:solidFill>
            <a:srgbClr val="161E2A"/>
          </a:solidFill>
          <a:ln w="12700">
            <a:solidFill>
              <a:srgbClr val="5BE38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67728" y="43891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967728" y="4626864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where a word appears, not how often. Terms a site prints on every article are discounted as furniture; weekdays and months are discarded outright.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766560" y="5321808"/>
            <a:ext cx="4919472" cy="914400"/>
          </a:xfrm>
          <a:prstGeom prst="roundRect">
            <a:avLst>
              <a:gd name="adj" fmla="val 4000"/>
            </a:avLst>
          </a:prstGeom>
          <a:solidFill>
            <a:srgbClr val="161E2A"/>
          </a:solidFill>
          <a:ln w="12700">
            <a:solidFill>
              <a:srgbClr val="5BE38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967728" y="53949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967728" y="5632704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article now searches Indian, RBI, intervention. The Ukraine story that scored 3.1 scores 9.0 on eight independent outlets.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20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B0F16"/>
          </a:solidFill>
          <a:ln w="12700">
            <a:solidFill>
              <a:srgbClr val="FCEE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420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E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52728" y="34747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3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Verification, and what is next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52728" y="822960"/>
            <a:ext cx="10436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outbound call sits behind one seam, so the whole pipeline runs on canned data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2604440" cy="1097280"/>
          </a:xfrm>
          <a:prstGeom prst="roundRect">
            <a:avLst>
              <a:gd name="adj" fmla="val 3333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1371600"/>
            <a:ext cx="2202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1956816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tests, all passing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3392" y="1298448"/>
            <a:ext cx="2604440" cy="1097280"/>
          </a:xfrm>
          <a:prstGeom prst="roundRect">
            <a:avLst>
              <a:gd name="adj" fmla="val 3333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4560" y="1371600"/>
            <a:ext cx="2202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564560" y="1956816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the network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3864" y="1298448"/>
            <a:ext cx="2604440" cy="1097280"/>
          </a:xfrm>
          <a:prstGeom prst="roundRect">
            <a:avLst>
              <a:gd name="adj" fmla="val 3333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25032" y="1371600"/>
            <a:ext cx="2202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10,146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425032" y="1956816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of Python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084335" y="1298448"/>
            <a:ext cx="2604440" cy="1097280"/>
          </a:xfrm>
          <a:prstGeom prst="roundRect">
            <a:avLst>
              <a:gd name="adj" fmla="val 3333"/>
            </a:avLst>
          </a:prstGeom>
          <a:solidFill>
            <a:srgbClr val="161E2A"/>
          </a:solidFill>
          <a:ln w="12700">
            <a:solidFill>
              <a:srgbClr val="2C3A4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85503" y="1371600"/>
            <a:ext cx="2202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507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9285503" y="1956816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events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2606040"/>
          <a:ext cx="5943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6"/>
          <p:cNvSpPr/>
          <p:nvPr/>
        </p:nvSpPr>
        <p:spPr>
          <a:xfrm>
            <a:off x="6355080" y="2606040"/>
            <a:ext cx="5330952" cy="1691640"/>
          </a:xfrm>
          <a:prstGeom prst="roundRect">
            <a:avLst>
              <a:gd name="adj" fmla="val 2162"/>
            </a:avLst>
          </a:prstGeom>
          <a:solidFill>
            <a:srgbClr val="161E2A"/>
          </a:solidFill>
          <a:ln w="12700">
            <a:solidFill>
              <a:srgbClr val="FF3D8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74536" y="27066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only live runs exposed — each now pinned by a test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574536" y="30175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navigation bar outvoting a headline</a:t>
            </a:r>
            <a:endParaRPr lang="en-US" sz="100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clock time (03:12) surfacing as two disputed statistics</a:t>
            </a:r>
            <a:endParaRPr lang="en-US" sz="1000" dirty="0"/>
          </a:p>
          <a:p>
            <a:pPr marL="342900" indent="-342900">
              <a:lnSpc>
                <a:spcPts val="12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 break making a story about 47 people record itself as counting 47 officials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355080" y="4480560"/>
            <a:ext cx="5330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3 and 4  —  </a:t>
            </a: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 the social ingest and media forensics behind their existing models.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355080" y="5047488"/>
            <a:ext cx="5330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· GIS  —  </a:t>
            </a: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GDAL / GEOS, turn USE_GIS on, and the GeoEvent PointField comes online.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355080" y="5614416"/>
            <a:ext cx="5330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D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models at the seams  —  </a:t>
            </a:r>
            <a:r>
              <a:rPr lang="en-US" sz="1050" dirty="0">
                <a:solidFill>
                  <a:srgbClr val="93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CREDIBILITY_SCORER, CONTENT_ANALYZER, SOCIAL_GRAPH_SCORER — no call site moves.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355080" y="6144768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FCEE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absent: Google News RSS search would widen corroboration, and Google’s robots.txt disallows /rss/search. Module 2 does not get to obey robots.txt only when convenient.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2163</Words>
  <Application>Microsoft Office PowerPoint</Application>
  <PresentationFormat>Widescreen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OSINT-Sentry - Project Report</dc:title>
  <dc:subject>PptxGenJS Presentation</dc:subject>
  <dc:creator>OSINT-Sentry</dc:creator>
  <cp:lastModifiedBy>utkersh sharma</cp:lastModifiedBy>
  <cp:revision>2</cp:revision>
  <dcterms:created xsi:type="dcterms:W3CDTF">2026-09-07T09:14:44Z</dcterms:created>
  <dcterms:modified xsi:type="dcterms:W3CDTF">2026-09-07T09:33:26Z</dcterms:modified>
</cp:coreProperties>
</file>